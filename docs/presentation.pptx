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B6E"/>
                </a:solidFill>
                <a:latin typeface="Arial"/>
              </a:defRPr>
            </a:pPr>
            <a:r>
              <a:rPr sz="1300" b="0" i="0" u="none" strike="noStrike">
                <a:solidFill>
                  <a:srgbClr val="6B5B6E"/>
                </a:solidFill>
                <a:latin typeface="Arial"/>
              </a:rPr>
              <a:t>Пикселна статистика по канал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7B2D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0.731</c:v>
                </c:pt>
                <c:pt idx="1">
                  <c:v>0.607</c:v>
                </c:pt>
                <c:pt idx="2">
                  <c:v>0.701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std</c:v>
                </c:pt>
              </c:strCache>
            </c:strRef>
          </c:tx>
          <c:spPr>
            <a:solidFill>
              <a:srgbClr val="C75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</c:v>
                  </c:pt>
                  <c:pt idx="1">
                    <c:v>G</c:v>
                  </c:pt>
                  <c:pt idx="2">
                    <c:v>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0.19</c:v>
                </c:pt>
                <c:pt idx="1">
                  <c:v>0.219</c:v>
                </c:pt>
                <c:pt idx="2">
                  <c:v>0.167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D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2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5B6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Cohen Kappa</c:v>
                </c:pt>
              </c:strCache>
            </c:strRef>
          </c:tx>
          <c:spPr>
            <a:solidFill>
              <a:srgbClr val="7B2D5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D1B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2D5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75B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2D5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SimpleCNN</c:v>
                  </c:pt>
                  <c:pt idx="1">
                    <c:v>VGG11</c:v>
                  </c:pt>
                  <c:pt idx="2">
                    <c:v>VGG16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0.725</c:v>
                </c:pt>
                <c:pt idx="1">
                  <c:v>0.797</c:v>
                </c:pt>
                <c:pt idx="2">
                  <c:v>0.724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D1B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EE2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B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640080"/>
            <a:ext cx="1005840" cy="100584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1554480"/>
            <a:ext cx="640080" cy="64008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1920240"/>
            <a:ext cx="457200" cy="457200"/>
          </a:xfrm>
          <a:prstGeom prst="ellipse">
            <a:avLst/>
          </a:prstGeom>
          <a:solidFill>
            <a:srgbClr val="C75B8A">
              <a:alpha val="45000"/>
            </a:srgbClr>
          </a:solidFill>
          <a:ln w="12700">
            <a:solidFill>
              <a:srgbClr val="F2D7E3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6949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Разпознаване на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медицинска аномалия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92608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Дълбоко самообучение върху CAMELYON17 — засичане на метастази в лимфни възли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2 · Deep Learning</a:t>
            </a:r>
            <a:pPr indent="0" marL="0">
              <a:buNone/>
            </a:pPr>
            <a:r>
              <a:rPr lang="en-US" sz="1300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CNN · VGG · U-Net · Streamlit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Задачата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7B2D5E"/>
                </a:solidFill>
              </a:rPr>
              <a:t>Цел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D1B2E"/>
                </a:solidFill>
              </a:rPr>
              <a:t>Уеб приложение, което засича метастази (tumor) в хистопатологични патчове от лимфни възли.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7B2D5E"/>
                </a:solidFill>
              </a:rPr>
              <a:t>Защо е „аномалия“
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D1B2E"/>
                </a:solidFill>
              </a:rPr>
              <a:t>Туморната тъкан е рядка и морфологично различна от нормалната → проблем на anomaly / out-of-distribution detection.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301752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0" y="15544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CAMELYON17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2011680"/>
            <a:ext cx="2468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1399 whole-slide изображения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H&amp;E оцветени срезове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анотации на лезиите
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~2.95 TB общо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Метрика: Cohen's Kappa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Съгласуваност, коригирана спрямо случайността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37160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κ = 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− 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/ (1 − p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pPr algn="ctr" indent="0" marL="0">
              <a:buNone/>
            </a:pPr>
            <a:r>
              <a:rPr lang="en-US" sz="26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pₒ</a:t>
            </a:r>
            <a:pPr indent="0" marL="0">
              <a:buNone/>
            </a:pPr>
            <a:r>
              <a:rPr lang="en-US" sz="13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наблюдавана съгласуваност (accuracy)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pₑ</a:t>
            </a:r>
            <a:pPr indent="0" marL="0">
              <a:buNone/>
            </a:pPr>
            <a:r>
              <a:rPr lang="en-US" sz="13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очаквана по случайност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Защо тук: датасетът е силно небалансиран → точността подвежда. Kappa коригира спрямо случайността.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3566160" cy="2926080"/>
        </p:xfrm>
        <a:graphic>
          <a:graphicData uri="http://schemas.openxmlformats.org/drawingml/2006/table">
            <a:tbl>
              <a:tblPr/>
              <a:tblGrid>
                <a:gridCol w="1783080"/>
                <a:gridCol w="1783080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Стойност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Тълкуване (Landis &amp; Koch)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по-лошо от случайност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 – 0.4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слабо / приемливо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 – 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умерено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 – 0.8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значително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 –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почти пълно съгласие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D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Данни: от слайд до патч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WSI (.tif)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Сваляне на под-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множество слайдове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95728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70048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07208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1" name="Text 9"/>
          <p:cNvSpPr/>
          <p:nvPr/>
        </p:nvSpPr>
        <p:spPr>
          <a:xfrm>
            <a:off x="2807208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07208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Tiling 96×96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07208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Решетка от патчове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ниво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17136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791456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28616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7" name="Text 15"/>
          <p:cNvSpPr/>
          <p:nvPr/>
        </p:nvSpPr>
        <p:spPr>
          <a:xfrm>
            <a:off x="4928616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28616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Tissue mask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28616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Отстраняване на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фона (HSV наситеност)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38544" y="1325880"/>
            <a:ext cx="310896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5B8A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912864" y="1325880"/>
            <a:ext cx="1874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50024" y="1463040"/>
            <a:ext cx="457200" cy="45720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23" name="Text 21"/>
          <p:cNvSpPr/>
          <p:nvPr/>
        </p:nvSpPr>
        <p:spPr>
          <a:xfrm>
            <a:off x="7050024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50024" y="19933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Етикет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50024" y="23317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tumor, ако центърът 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анотиран полигон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8000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40080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70048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761488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96×96×3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2761488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uint8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91456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82896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4000 / 4000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882896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 tumor/normal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12864" y="3337560"/>
            <a:ext cx="1874520" cy="11430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004304" y="347472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004304" y="397764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пациента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Разглеждане на данните (EDA)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43891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212080" y="1371600"/>
            <a:ext cx="33832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Наблюдения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Балансиран набор: 4000 normal / 4000 tumor.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и B са най-високи, G — най-нисък → типично розово-лилаво H&amp;E оцветяване.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Вариациите в оцветяването между слайдове са основната пречка за генерализация → адресирани със stain аугментация.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SimpleCNN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CNN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conv блока (Conv-BN-ReLU-Pool) + класификатор. Стъпка 3.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55848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55848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3538728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 11 / 13 / 16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38728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Дълбоки conv мрежи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38728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Конфигурируеми VGG блокове с adaptive pooling за 96×96 патчове. Стъпка 4.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63056" y="1371600"/>
            <a:ext cx="2560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63056" y="1371600"/>
            <a:ext cx="2560320" cy="10972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64592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U-Net автоенкодер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45936" y="2194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Реконструкция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45936" y="269748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Енкодер-декодер със skip връзки; anomaly score = грешка на реконструкцията. Стъпка 5.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Изтичане на информация при оценката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98755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Влияние на начина на разделяне на данните върху резултата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Постановка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D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Наивен split (patch-level)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0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0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Patient-level split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ColorJitter + best-epoch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D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7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Наивният split бърка патчове от един слайд в train и val → моделът „познава слайда“ по оцветяването → фалшиви ~0.98. 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split + stain аугментация разкриват честната генерализация.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Резултати — невиждани пациенти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 Kappa · 30 пациента · 44 321 патча · patient-level split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554480"/>
            <a:ext cx="2651760" cy="1371600"/>
          </a:xfrm>
          <a:prstGeom prst="rect">
            <a:avLst/>
          </a:prstGeom>
          <a:solidFill>
            <a:srgbClr val="F2D7E3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035040" y="169164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VGG11
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най-висок κ = 0.797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0" y="310896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 &lt; VGG11 → повече параметри = повече overfitting при малко пациенти.
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се вдигна от случайност (−0.05) до 0.73 след stain аугментация.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Автоенкодер: честен отрицателен резултат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931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50876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 MSE
</a:t>
            </a:r>
            <a:endParaRPr lang="en-US" sz="1500" dirty="0"/>
          </a:p>
          <a:p>
            <a:pPr indent="0" marL="0">
              <a:buNone/>
            </a:pPr>
            <a:r>
              <a:rPr lang="en-US" sz="18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normal: 0.0006
</a:t>
            </a:r>
            <a:endParaRPr lang="en-US" sz="1500" dirty="0"/>
          </a:p>
          <a:p>
            <a:pPr indent="0" marL="0">
              <a:buNone/>
            </a:pPr>
            <a:r>
              <a:rPr lang="en-US" sz="18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tumor:  0.0004
</a:t>
            </a: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 &lt; 0.5  (обърнат score)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754880" y="1371600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Защо не работи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Туморните региони се реконструират по-добре от нормалните. Нормалната лимфна тъкан е структурно по-богата (лимфоцити, граници) → по-трудна за реконструкция; туморът е по-хомогенен → по-лесен.
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Извод: за тези данни supervised CNN/VGG далеч превъзхожда reconstruction-based подхода.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Инженерна стриктност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Бъгове, открити и поправени по пътя (BDD тестове: 25 ✓)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7335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733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52704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Само-normal извличане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Последователното сканиране с лимит пропускаше малките лезии → 0 tumor патча. Решение: насочено семплиране от полигоните.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72491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24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57860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 на трансформите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Аугментациите се прилагаха върху numpy масив. Решение: ToTensor преди тях.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8046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776472"/>
            <a:ext cx="411480" cy="411480"/>
          </a:xfrm>
          <a:prstGeom prst="ellipse">
            <a:avLst/>
          </a:prstGeom>
          <a:solidFill>
            <a:srgbClr val="C75B8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7647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30168"/>
            <a:ext cx="7132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float32 средни  —  </a:t>
            </a:r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Каналните средни колабираха при ~74 млн пиксела. Решение: float64 акумулатор.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Потребителски интерфейс (Streamlit)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2062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2D7E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5544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2D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Качване на патч и предсказание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463040" cy="1463040"/>
          </a:xfrm>
          <a:prstGeom prst="rect">
            <a:avLst/>
          </a:prstGeom>
          <a:solidFill>
            <a:srgbClr val="F2D7E3"/>
          </a:solidFill>
          <a:ln w="12700">
            <a:solidFill>
              <a:srgbClr val="C75B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патч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22860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(метастаза)
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вероятност: 91%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468880" y="3200400"/>
            <a:ext cx="2103120" cy="201168"/>
          </a:xfrm>
          <a:prstGeom prst="rect">
            <a:avLst/>
          </a:prstGeom>
          <a:solidFill>
            <a:srgbClr val="F2D7E3"/>
          </a:solidFill>
          <a:ln/>
        </p:spPr>
      </p:sp>
      <p:sp>
        <p:nvSpPr>
          <p:cNvPr id="9" name="Shape 7"/>
          <p:cNvSpPr/>
          <p:nvPr/>
        </p:nvSpPr>
        <p:spPr>
          <a:xfrm>
            <a:off x="2468880" y="3200400"/>
            <a:ext cx="1911096" cy="201168"/>
          </a:xfrm>
          <a:prstGeom prst="rect">
            <a:avLst/>
          </a:prstGeom>
          <a:solidFill>
            <a:srgbClr val="C75B8A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7B2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Възможности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Качване на изображение, предсказание tumor/normal + вероятност.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Зарежда архитектурата автоматично от чекпойнта.
</a:t>
            </a:r>
            <a:endParaRPr lang="en-US" sz="16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Логиката е изнесена и покрита с BDD тестове.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Изводи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7955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VGG11 е най-добрият модел (Cohen Kappa 0.797 на 30 невиждани пациента).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Stain аугментацията е критична за генерализация в хистопатологията.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евалуация е задължителна — иначе резултатите са фалшиво високи.
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Reconstruction-based anomaly detection не работи за тези данни (честен отрицателен резултат).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5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Бъдеща работа:  </a:t>
            </a:r>
            <a:pPr indent="0" marL="0">
              <a:buNone/>
            </a:pPr>
            <a:r>
              <a:rPr lang="en-US" sz="1400" dirty="0">
                <a:solidFill>
                  <a:srgbClr val="F2D7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повече пациенти · отделен test сет · transfer learning · U-Net сегментация на tumor маска.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Разпознаване на медицинска аномалия (CAMELYON17)</dc:title>
  <dc:subject>PptxGenJS Presentation</dc:subject>
  <dc:creator>Plamena Ilieva</dc:creator>
  <cp:lastModifiedBy>Plamena Ilieva</cp:lastModifiedBy>
  <cp:revision>1</cp:revision>
  <dcterms:created xsi:type="dcterms:W3CDTF">2026-06-24T19:19:52Z</dcterms:created>
  <dcterms:modified xsi:type="dcterms:W3CDTF">2026-06-24T19:19:52Z</dcterms:modified>
</cp:coreProperties>
</file>